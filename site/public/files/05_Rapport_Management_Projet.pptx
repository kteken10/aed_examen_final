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2B4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B2B40"/>
                </a:solidFill>
                <a:latin typeface="Arial"/>
              </a:rPr>
              <a:t>Erreur moyenne (MAE) — plus bas = mieux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(multi-pas)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Rég. linéaire</c:v>
                </c:pt>
                <c:pt idx="1">
                  <c:v>Métier</c:v>
                </c:pt>
                <c:pt idx="2">
                  <c:v>SARIMAX</c:v>
                </c:pt>
                <c:pt idx="3">
                  <c:v>Random Forest</c:v>
                </c:pt>
                <c:pt idx="4">
                  <c:v>SARIMA</c:v>
                </c:pt>
                <c:pt idx="5">
                  <c:v>Sais. naïf</c:v>
                </c:pt>
                <c:pt idx="6">
                  <c:v>Naïve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5.61</c:v>
                </c:pt>
                <c:pt idx="1">
                  <c:v>7.75</c:v>
                </c:pt>
                <c:pt idx="2">
                  <c:v>8.24</c:v>
                </c:pt>
                <c:pt idx="3">
                  <c:v>9.44</c:v>
                </c:pt>
                <c:pt idx="4">
                  <c:v>9.61</c:v>
                </c:pt>
                <c:pt idx="5">
                  <c:v>9.61</c:v>
                </c:pt>
                <c:pt idx="6">
                  <c:v>11.31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B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2B4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B2B40"/>
                </a:solidFill>
                <a:latin typeface="Arial"/>
              </a:rPr>
              <a:t>Momentum demande — YoY 2024 vs 2023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B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Spain</c:v>
                  </c:pt>
                  <c:pt idx="1">
                    <c:v>Germany</c:v>
                  </c:pt>
                  <c:pt idx="2">
                    <c:v>Italy</c:v>
                  </c:pt>
                  <c:pt idx="3">
                    <c:v>USA</c:v>
                  </c:pt>
                  <c:pt idx="4">
                    <c:v>Morocco</c:v>
                  </c:pt>
                  <c:pt idx="5">
                    <c:v>Portugal</c:v>
                  </c:pt>
                  <c:pt idx="6">
                    <c:v>Japan</c:v>
                  </c:pt>
                  <c:pt idx="7">
                    <c:v>France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2.4</c:v>
                </c:pt>
                <c:pt idx="2">
                  <c:v>2.1</c:v>
                </c:pt>
                <c:pt idx="3">
                  <c:v>-1.6</c:v>
                </c:pt>
                <c:pt idx="4">
                  <c:v>-1.9</c:v>
                </c:pt>
                <c:pt idx="5">
                  <c:v>-3.1</c:v>
                </c:pt>
                <c:pt idx="6">
                  <c:v>-3.5</c:v>
                </c:pt>
                <c:pt idx="7">
                  <c:v>-4.8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B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DE MANAGEMENT DE PROJET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Prévision de la demande touristique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recommandation de destinations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l'audit qualité à la décision métier — un projet data structuré et défendable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Périmètre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marchés · 160 destinations · indices mensuels 2022-2024 · 6 sources hétérogènes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Le besoin métier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questions de natures différentes — les confondre est le premier piège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45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2763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Quels marchés (pays) ont la demande la plus porteuse 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Prévision de série temporelle (régression supervisée)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02352" y="164592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1" name="Text 9"/>
          <p:cNvSpPr/>
          <p:nvPr/>
        </p:nvSpPr>
        <p:spPr>
          <a:xfrm>
            <a:off x="5102352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23560" y="162763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Quelles destinations promouvoir par pays 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514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Aucun modèle : score multicritère raisonné sous contraintes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033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croissance de demande prévue · score d'attractivité par euro · couverture budgétaire.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Décisions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scoring est automatisable ; le choix final des destinations et du budget reste HUMAIN.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Les données &amp; leur qualité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ne suppose jamais qu'une donnée est correcte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hétérogènes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87752" y="13716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87752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679192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 recensées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26864" y="13716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718304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 critiques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65976" y="13716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65976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757416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écartées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8046720" cy="2011680"/>
          </a:xfrm>
          <a:prstGeom prst="roundRect">
            <a:avLst>
              <a:gd name="adj" fmla="val 3636"/>
            </a:avLst>
          </a:prstGeom>
          <a:solidFill>
            <a:srgbClr val="FBE9E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852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 critiques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2004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05_cible_recommandation.csv : aucune donnée, un message de l'examinateur (« décider, pas copier ») → pas de variable cible de reco.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06_campaign : status incohérent (FAIL à ROI 220 k€, TOP à 1 % conv.), budgets « unknown »/0, doublon contradictoire → 8 lignes inexploitables.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03_reviews : sentiment et score décorrélés (corr. 0,03) → réputation non fiable, écartée.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04_facteurs : 93 doublons/300 et 61 % de jointure perdue → météo/vol en variable optionnelle.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Les choix techniques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a été décidé, et pourquoi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4813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(pays, destination)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code City_X est réutilisé entre pays : jamais la destination seule.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2128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Refuser plutôt qu'imputer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 et campagnes écartés : reconstruire une donnée non fiable fausse la décision.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944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DATA + 8 variables dérivées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value_for_money, normalisations intra-pays, score composite, pénalité météo, score ajusté.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6758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simple retenu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régression linéaire (saisonnalité + retards + effet pays), interprétable — préférée à SARIMA/SARIMAX (séries courtes), validée par backtest.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4074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Pondérations en cellules vives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levier de décision reste modifiable et défendable par l'analyste.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Modélisation &amp; arbitrage du modèle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: demand_index · 2 familles (SARIMA/SARIMAX vs ML) · multi-pas · Time Series CV (12 plis) + split train/validation/test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41732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12648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26480" y="19659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r>
              <a:rPr sz="1250">
                <a:solidFill>
                  <a:srgbClr val="2B2B40"/>
                </a:solidFill>
                <a:latin typeface="Arial"/>
              </a:rPr>
              <a:t>Deux familles comparées en prévision multi-pas.</a:t>
            </a:r>
            <a:endParaRPr lang="en-US" sz="1250" dirty="0"/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2B2B40"/>
                </a:solidFill>
                <a:latin typeface="Arial"/>
              </a:rPr>
              <a:t>Statistique native : SARIMAX (8,2) bat SARIMA (9,6) — la saisonnalité déterministe stabilise les séries courtes.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2B2B40"/>
                </a:solidFill>
                <a:latin typeface="Arial"/>
              </a:rPr>
              <a:t>ML : la régression linéaire globale gagne (MAE 5,6 ; 5/8 pays).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B2B40"/>
                </a:solidFill>
                <a:latin typeface="Arial"/>
              </a:rPr>
              <a:t>Sur ~30 pts/pays, mutualiser entre pays bat un SARIMA univariate : la complexité statistique ne se justifie pas ici.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Les arbitrages assumés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· Modèle · KPI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Écarter 3 sources non fiables plutôt que les imputer. La principale décision du projet est défensive.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3552" y="146304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02152" y="169164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02152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Privilégier l'interprétabilité et la robustesse à la complexité. Régression linéaire &gt; Random Forest ici.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98464" y="146304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27064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27064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27064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les pays sur la dynamique (YoY), jamais sur le niveau d'indice (bases non comparables).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Recommandation métier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porteur → score destination → contraintes → décision humaine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41732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126480" y="160020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pPr indent="0" marL="0">
              <a:lnSpc>
                <a:spcPct val="115000"/>
              </a:lnSpc>
              <a:buNone/>
            </a:pPr>
            <a:r>
              <a:rPr sz="1100" b="1">
                <a:solidFill>
                  <a:srgbClr val="2E9E5B"/>
                </a:solidFill>
                <a:latin typeface="Arial"/>
              </a:rPr>
              <a:t>Marchés prioritaires (momentum +)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B2B40"/>
                </a:solidFill>
                <a:latin typeface="Arial"/>
              </a:rPr>
              <a:t>Spain · Germany · Italy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761"/>
                </a:solidFill>
                <a:latin typeface="Arial"/>
              </a:rPr>
              <a:t>Top destinations (score ajusté météo)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B2B40"/>
                </a:solidFill>
                <a:latin typeface="Arial"/>
              </a:rPr>
              <a:t>Spain : City_10, City_32, City_43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B2B40"/>
                </a:solidFill>
                <a:latin typeface="Arial"/>
              </a:rPr>
              <a:t>Germany : City_37, City_4, City_5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B2B40"/>
                </a:solidFill>
                <a:latin typeface="Arial"/>
              </a:rPr>
              <a:t>Italy : City_29, City_50, City_37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weather=bad pénalisé (–12) : City_43 rétrogradée du 1er au 3e rang.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Choix final &amp; budget = décision humaine, max 5 dest./pays.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· Limites du modèle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présenter honnêtement avant toute décision opérationnelle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Prévision sans intervalle de confiance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lire comme un ordre de grandeur, pas une vérité chiffrée.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Saisonnalité contre-intuitive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9204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creux estival : à valider avec le métier avant action.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Facteurs externes peu joignables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61 % de perte : météo/vol restent indicatifs.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97180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écartées à re-collecter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3520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 et campagnes : protocole qualité avant réintégration.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&amp; gouvernance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7955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valeur de ce projet tient moins au modèle qu'à la rigueur de l'audit : savoir quelles données refuser est la principale décision métier.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Décider, pas copier : la recommandation est un score multicritère dont les pondérations sont un arbitrage à assumer devant le jury.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Gouvernance : data owners et règles qualité formalisés au dictionnaire ; toute nouvelle source repasse l'audit avant intégration.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étape : re-collecter avis et campagnes avec un protocole fiable pour enrichir le score de réputation et de performance marketing.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Management de projet — Demande touristique</dc:title>
  <dc:subject>PptxGenJS Presentation</dc:subject>
  <dc:creator>Consultant Data</dc:creator>
  <cp:lastModifiedBy>Consultant Data</cp:lastModifiedBy>
  <cp:revision>1</cp:revision>
  <dcterms:created xsi:type="dcterms:W3CDTF">2026-06-12T14:01:59Z</dcterms:created>
  <dcterms:modified xsi:type="dcterms:W3CDTF">2026-06-12T14:01:59Z</dcterms:modified>
</cp:coreProperties>
</file>